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6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28750"/>
            <a:ext cx="12192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《软件工程实践（一）》 · 阶段性评审（I） · 第 1 组</a:t>
            </a:r>
            <a:endParaRPr sz="18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095500"/>
            <a:ext cx="121920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在线购物系统（挑战升级）</a:t>
            </a:r>
            <a:endParaRPr sz="58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048000"/>
            <a:ext cx="1219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第 1 次阶段性评审汇报 · 迭代 1：基线需求 MVP</a:t>
            </a:r>
            <a:endParaRPr sz="26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71875"/>
            <a:ext cx="12192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Online Shopping System — Baseline MVP Iteration Review</a:t>
            </a:r>
            <a:endParaRPr sz="15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4095750"/>
            <a:ext cx="6096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5619750"/>
            <a:ext cx="76200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汇报人：陈星宇（组长 / Scrum Master）</a:t>
            </a:r>
            <a:endParaRPr sz="20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2500" y="6019800"/>
            <a:ext cx="85725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组员：董嘉润（产品经理）· 王振涛（后端）· 林初俊（后端）· 嵇宇锋（前端）</a:t>
            </a:r>
            <a:endParaRPr sz="15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4500" y="5772150"/>
            <a:ext cx="19050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2026-10-08</a:t>
            </a:r>
            <a:endParaRPr sz="18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汇报路线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对应评审报告 3.1 ~ 3.6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10972800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" y="1076325"/>
            <a:ext cx="40005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076325"/>
            <a:ext cx="400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2550" y="10668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产品定位与基线范围</a:t>
            </a:r>
            <a:endParaRPr sz="19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2550" y="1323975"/>
            <a:ext cx="79057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单卖家单品 · 免注册排队 · 口令码自助 · 线下交易；明确"做 / 不做"边界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20250" y="990600"/>
            <a:ext cx="17716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陈星宇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1638300"/>
            <a:ext cx="10972800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" y="1724025"/>
            <a:ext cx="40005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1724025"/>
            <a:ext cx="400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52550" y="17145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需求是如何确定的</a:t>
            </a:r>
            <a:endParaRPr sz="19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52550" y="1971675"/>
            <a:ext cx="79057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口述需求 → 全站澄清 → 本组 10 问 → 需求规格说明书 v1.3 → 用例表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20250" y="1638300"/>
            <a:ext cx="17716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陈星宇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2286000"/>
            <a:ext cx="10972800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" y="2371725"/>
            <a:ext cx="40005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" y="2371725"/>
            <a:ext cx="400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52550" y="23622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需求口径裁决 C1~C4</a:t>
            </a:r>
            <a:endParaRPr sz="19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2550" y="2619375"/>
            <a:ext cx="79057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四条表面矛盾分别怎么裁决的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20250" y="2286000"/>
            <a:ext cx="17716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董嘉润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09600" y="2933700"/>
            <a:ext cx="10972800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" y="3019425"/>
            <a:ext cx="40005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3019425"/>
            <a:ext cx="400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52550" y="30099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功能需求全景</a:t>
            </a:r>
            <a:endParaRPr sz="19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52550" y="3267075"/>
            <a:ext cx="79057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卖家端 9 条 + 买家端 5 条，逐条对应到用例与测试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20250" y="2933700"/>
            <a:ext cx="17716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董嘉润 · 陈星宇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9600" y="3581400"/>
            <a:ext cx="10972800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0100" y="3667125"/>
            <a:ext cx="40005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" y="3667125"/>
            <a:ext cx="400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52550" y="36576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业务规则：状态机与口令码</a:t>
            </a:r>
            <a:endParaRPr sz="19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52550" y="3914775"/>
            <a:ext cx="79057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商品四态 + 意向终态；口令码全生命周期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20250" y="3581400"/>
            <a:ext cx="17716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王振涛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9600" y="4229100"/>
            <a:ext cx="10972800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0100" y="4314825"/>
            <a:ext cx="40005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" y="4314825"/>
            <a:ext cx="400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52550" y="43053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完成实证：代码 · 测试 · 运行</a:t>
            </a:r>
            <a:endParaRPr sz="19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52550" y="4562475"/>
            <a:ext cx="79057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1,290 行 Java、17 接口、JUnit 16/16 全绿，配真实运行截图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20250" y="4229100"/>
            <a:ext cx="17716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林初俊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09600" y="4876800"/>
            <a:ext cx="10972800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0100" y="4962525"/>
            <a:ext cx="40005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" y="4962525"/>
            <a:ext cx="400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52550" y="49530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五人分工与成果物 · 现场演示</a:t>
            </a:r>
            <a:endParaRPr sz="19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52550" y="5210175"/>
            <a:ext cx="79057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3.6 工作任务表逐人对应成果物；买卖全链路 8 步演示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620250" y="4876800"/>
            <a:ext cx="17716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全员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02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产品定位与基线范围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报告 3.1 · 3.4 迭代 1 目标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539115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" y="1181100"/>
            <a:ext cx="76200" cy="2857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11811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这是一个什么系统</a:t>
            </a:r>
            <a:endParaRPr sz="24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" y="1638300"/>
            <a:ext cx="501015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全站在售商品</a:t>
            </a:r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有且仅有一件</a:t>
            </a:r>
            <a:r>
              <a:rPr sz="18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，只有一个卖家；买家</a:t>
            </a:r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免注册</a:t>
            </a:r>
            <a:r>
              <a:rPr sz="18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提交购买意向，按提交时间</a:t>
            </a:r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先到先得</a:t>
            </a:r>
            <a:r>
              <a:rPr sz="18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排队，凭 8 位口令码自助查询、修改与撤销。</a:t>
            </a:r>
            <a:endParaRPr sz="18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100" y="2552700"/>
            <a:ext cx="501015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队首自动进入交易、商品自动</a:t>
            </a:r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冻结</a:t>
            </a:r>
            <a:r>
              <a:rPr sz="18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；交易成功商品下架、队列剩余转失败；交易失败由下一位</a:t>
            </a:r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自动递补</a:t>
            </a:r>
            <a:r>
              <a:rPr sz="18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。资金与货品交割完全</a:t>
            </a:r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线下</a:t>
            </a:r>
            <a:r>
              <a:rPr sz="18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完成。</a:t>
            </a:r>
            <a:endParaRPr sz="18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0100" y="3962400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398145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先到先得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52600" y="3962400"/>
            <a:ext cx="1000125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52600" y="3981450"/>
            <a:ext cx="10001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口令码自助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47975" y="3962400"/>
            <a:ext cx="1285875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7975" y="3981450"/>
            <a:ext cx="128587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自动冻结/递补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229100" y="3962400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9100" y="398145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线下交割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91250" y="990600"/>
            <a:ext cx="539115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1750" y="1181100"/>
            <a:ext cx="76200" cy="2857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2250" y="11811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范围边界</a:t>
            </a:r>
            <a:endParaRPr sz="24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81750" y="1638300"/>
            <a:ext cx="2476500" cy="228600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4150" y="1771650"/>
            <a:ext cx="21907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做（基线 MVP）</a:t>
            </a:r>
            <a:endParaRPr sz="17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4150" y="211455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· 商品发布 / 冻结 / 下架</a:t>
            </a:r>
            <a:endParaRPr sz="15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4150" y="243840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· 意向排队与口令码</a:t>
            </a:r>
            <a:endParaRPr sz="15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34150" y="276225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· 交易标记与失败处置</a:t>
            </a:r>
            <a:endParaRPr sz="15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4150" y="308610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· 历史档案 · 改密码</a:t>
            </a:r>
            <a:endParaRPr sz="15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72550" y="1638300"/>
            <a:ext cx="241935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4950" y="1771650"/>
            <a:ext cx="21336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D9534F"/>
                </a:solidFill>
                <a:ea typeface="微软雅黑" panose="020B0503020204020204" charset="-122"/>
                <a:cs typeface="微软雅黑" panose="020B0503020204020204" charset="-122"/>
              </a:rPr>
              <a:t>不做（需求方排除）</a:t>
            </a:r>
            <a:endParaRPr sz="1700" b="1">
              <a:solidFill>
                <a:srgbClr val="D9534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24950" y="2114550"/>
            <a:ext cx="2152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· 买家注册 / 登录</a:t>
            </a:r>
            <a:endParaRPr sz="15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24950" y="2438400"/>
            <a:ext cx="2152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· 线上支付 · 物流</a:t>
            </a:r>
            <a:endParaRPr sz="15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24950" y="2762250"/>
            <a:ext cx="2152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· 购物车 · 搜索 · 评价</a:t>
            </a:r>
            <a:endParaRPr sz="15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24950" y="3086100"/>
            <a:ext cx="2152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· App / 小程序</a:t>
            </a:r>
            <a:endParaRPr sz="15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81750" y="4076700"/>
            <a:ext cx="50482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出处：需求规格说明书 v1.3 第 1.2 节「范围」——越界功能 0 项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09600" y="4838700"/>
            <a:ext cx="10972800" cy="72390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500" y="4838700"/>
            <a:ext cx="7810500" cy="723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技术栈：Spring Boot 3 + Spring Data JPA + H2 · 原生 JS 前端 · Maven · JUnit 5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72500" y="4838700"/>
            <a:ext cx="2762250" cy="723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迭代 1 目标 = 基线 MVP</a:t>
            </a:r>
            <a:endParaRPr sz="15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5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（09-17 ~ 10-08）</a:t>
            </a:r>
            <a:endParaRPr sz="15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03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需求是如何确定的：澄清 → 规格 → 用例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SRS v1.3 第 1 节 · 主讲：陈星宇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2476500" cy="91440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1123950"/>
            <a:ext cx="22098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01 老师口述需求</a:t>
            </a:r>
            <a:endParaRPr sz="17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950" y="1447800"/>
            <a:ext cx="2209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基线需求的原始输入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05150" y="1238250"/>
            <a:ext cx="2476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6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71850" y="990600"/>
            <a:ext cx="2476500" cy="91440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123950"/>
            <a:ext cx="22098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02 全站澄清结论</a:t>
            </a:r>
            <a:endParaRPr sz="17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05200" y="1447800"/>
            <a:ext cx="2209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课程 Wiki 公开问答归档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67400" y="1238250"/>
            <a:ext cx="2476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6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34100" y="990600"/>
            <a:ext cx="2476500" cy="91440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7450" y="1123950"/>
            <a:ext cx="22098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03 本组提问与答复</a:t>
            </a:r>
            <a:endParaRPr sz="17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7450" y="1447800"/>
            <a:ext cx="2209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需求问题库 10 问 · 8 条答复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29650" y="1238250"/>
            <a:ext cx="2476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6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896350" y="990600"/>
            <a:ext cx="2476500" cy="914400"/>
          </a:xfrm>
          <a:prstGeom prst="rect">
            <a:avLst/>
          </a:prstGeom>
          <a:solidFill>
            <a:srgbClr val="0E3F8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700" y="1123950"/>
            <a:ext cx="22098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04 需求规格说明书</a:t>
            </a:r>
            <a:endParaRPr sz="17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29700" y="1447800"/>
            <a:ext cx="2209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v1.3 定稿 + 用例表 UC-01~15</a:t>
            </a:r>
            <a:endParaRPr sz="14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" y="2057400"/>
            <a:ext cx="5334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2228850"/>
            <a:ext cx="76200" cy="266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600" y="22098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三个来源</a:t>
            </a:r>
            <a:endParaRPr sz="20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2628900"/>
            <a:ext cx="14287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老师口述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19350" y="26289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基线 MVP 的原始需求，决定"做 / 不做"边界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3067050"/>
            <a:ext cx="14287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全站澄清记录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19350" y="306705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课程层面对同类问题的既有答复，作为裁决依据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3505200"/>
            <a:ext cx="14287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本组需求问题库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19350" y="35052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10 条提问向需求方澄清，8 条已答复并回填正文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91250" y="2057400"/>
            <a:ext cx="539115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81750" y="2228850"/>
            <a:ext cx="76200" cy="2667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2250" y="22098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澄清结论→落到需求条目的例子</a:t>
            </a:r>
            <a:endParaRPr sz="20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6050" y="2628900"/>
            <a:ext cx="15049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Q1 如何进交易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77200" y="26289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拍板：队首自动进入交易 + 自动冻结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6050" y="3067050"/>
            <a:ext cx="15049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Q4 交易中撤销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77200" y="306705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拍板：买家仍可撤销，交易终止并自动递补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96050" y="3505200"/>
            <a:ext cx="15049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Q6 手动下架受阻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7200" y="35052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拍板：下架不因有排队意向而禁止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9600" y="4114800"/>
            <a:ext cx="10972800" cy="1905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" y="4267200"/>
            <a:ext cx="66675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从需求到测试的对应关系</a:t>
            </a:r>
            <a:endParaRPr sz="20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0100" y="4705350"/>
            <a:ext cx="2533650" cy="876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" y="4876800"/>
            <a:ext cx="2533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14 条功能需求</a:t>
            </a:r>
            <a:endParaRPr sz="21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0100" y="5238750"/>
            <a:ext cx="2533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FR-S1~S9 · FR-B1~B5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33750" y="4972050"/>
            <a:ext cx="1905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524250" y="4705350"/>
            <a:ext cx="2533650" cy="876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4250" y="4876800"/>
            <a:ext cx="2533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15 个用例</a:t>
            </a:r>
            <a:endParaRPr sz="21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24250" y="5238750"/>
            <a:ext cx="2533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UC-01 ~ UC-15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57900" y="4972050"/>
            <a:ext cx="1905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48400" y="4705350"/>
            <a:ext cx="2533650" cy="876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0" y="4876800"/>
            <a:ext cx="2533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17 个 REST 接口</a:t>
            </a:r>
            <a:endParaRPr sz="21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48400" y="5238750"/>
            <a:ext cx="2533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卖家 12 + 买家 5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82050" y="4972050"/>
            <a:ext cx="1905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972550" y="4705350"/>
            <a:ext cx="2533650" cy="876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72550" y="4876800"/>
            <a:ext cx="2533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16 组 JUnit</a:t>
            </a:r>
            <a:endParaRPr sz="21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972550" y="5238750"/>
            <a:ext cx="2533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mvn test 全绿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0100" y="5695950"/>
            <a:ext cx="104775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需求由董嘉润提出并组织澄清；需求分析与文档编写由董嘉润、陈星宇共同完成。版本记录见需求规格说明书页头。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04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需求口径裁决：四条表面矛盾（C1~C4）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SRS v1.3 第 1.4 节 · 主讲：董嘉润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53721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" y="1162050"/>
            <a:ext cx="438150" cy="4381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162050"/>
            <a:ext cx="43815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C1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1143000"/>
            <a:ext cx="4419600" cy="857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"无注册"却又要求"修改密码"，没有注册哪来密码？</a:t>
            </a:r>
            <a:endParaRPr sz="17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0100" y="2000250"/>
            <a:ext cx="4991100" cy="66675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2076450"/>
            <a:ext cx="47053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裁决：</a:t>
            </a:r>
            <a:r>
              <a:rPr sz="1500" b="0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买家完全无账号；卖家账号由系统指定（初始化生成 + 随机初始密码），两者不冲突。</a:t>
            </a:r>
            <a:endParaRPr sz="1500" b="0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0300" y="990600"/>
            <a:ext cx="53721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162050"/>
            <a:ext cx="438150" cy="4381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62050"/>
            <a:ext cx="43815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C2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72300" y="1143000"/>
            <a:ext cx="4419600" cy="857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"先到先得排队"与"卖家处理交易"并存，会被误解为卖家可挑人</a:t>
            </a:r>
            <a:endParaRPr sz="17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0" y="2000250"/>
            <a:ext cx="4991100" cy="66675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200" y="2076450"/>
            <a:ext cx="47053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裁决：</a:t>
            </a:r>
            <a:r>
              <a:rPr sz="1500" b="0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卖家不可挑人：队首自动进入交易、系统自动冻结；卖家仅"标记结果"与"冻结/解冻"两项手动操作。</a:t>
            </a:r>
            <a:endParaRPr sz="1500" b="0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2914650"/>
            <a:ext cx="53721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" y="3086100"/>
            <a:ext cx="438150" cy="4381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" y="3086100"/>
            <a:ext cx="43815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C3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1600" y="3067050"/>
            <a:ext cx="4419600" cy="857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"线下交易"与"系统内标记结果"的边界在哪里？</a:t>
            </a:r>
            <a:endParaRPr sz="17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00100" y="3924300"/>
            <a:ext cx="4991100" cy="66675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500" y="4000500"/>
            <a:ext cx="47053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裁决：</a:t>
            </a:r>
            <a:r>
              <a:rPr sz="1500" b="0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系统只做意向排队与状态记录；资金与货品交割完全在线下，平台不参与担保（已写入免责声明）。</a:t>
            </a:r>
            <a:endParaRPr sz="1500" b="0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10300" y="2914650"/>
            <a:ext cx="53721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086100"/>
            <a:ext cx="438150" cy="4381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086100"/>
            <a:ext cx="43815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C4</a:t>
            </a:r>
            <a:endParaRPr sz="19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72300" y="3067050"/>
            <a:ext cx="4419600" cy="857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"无通知功能"与"买家需要知道结果"相矛盾</a:t>
            </a:r>
            <a:endParaRPr sz="17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3924300"/>
            <a:ext cx="4991100" cy="66675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00500"/>
            <a:ext cx="47053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裁决：</a:t>
            </a:r>
            <a:r>
              <a:rPr sz="1500" b="0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系统明确无任何通知机制——买家凭口令码自助查询感知状态变化，这是有意取舍，不是遗漏。</a:t>
            </a:r>
            <a:endParaRPr sz="1500" b="0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9600" y="4953000"/>
            <a:ext cx="10972800" cy="609600"/>
          </a:xfrm>
          <a:prstGeom prst="roundRect">
            <a:avLst>
              <a:gd name="adj" fmla="val 14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53000"/>
            <a:ext cx="7620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全部裁决均已回写正文，并经需求方 2026-10-07 八条答复确认（需求问题库）</a:t>
            </a:r>
            <a:endParaRPr sz="18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72500" y="4953000"/>
            <a:ext cx="27622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文档：需求规格说明书 v1.3</a:t>
            </a:r>
            <a:endParaRPr sz="15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05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功能需求全景：卖家端 9 条 + 买家端 5 条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SRS v1.3 第 3 节 · 主讲：董嘉润 · 陈星宇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533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" y="1162050"/>
            <a:ext cx="76200" cy="266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11430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卖家端 FR-S（9 条）</a:t>
            </a:r>
            <a:endParaRPr sz="21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0100" y="163830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6383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FR-S1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4050" y="165735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登录鉴权：无注册、无退出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0100" y="207645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20764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FR-S2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4050" y="209550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修改密码：≥8 位，旧密码立即失效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0100" y="251460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" y="25146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FR-S3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4050" y="253365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发布商品：有在售商品时禁止，发布后不可改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0100" y="295275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29527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FR-S4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24050" y="297180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手动冻结 / 解冻（冻结原因可区分）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0100" y="339090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" y="33909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FR-S5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4050" y="340995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意向购买人管理：卖家不可挑人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0100" y="382905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" y="38290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FR-S6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4050" y="384810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标记交易结果：成功 / 失败两档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0100" y="426720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" y="42672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FR-S7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4050" y="428625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失败意向处置：卖家逐单确认重排，无上限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0100" y="470535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" y="47053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FR-S8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24050" y="472440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手动下架：不因排队意向而禁止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0100" y="514350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" y="51435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FR-S9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24050" y="5162550"/>
            <a:ext cx="3810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历史商品：倒序分页 + 意向流水，不记口令码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91250" y="990600"/>
            <a:ext cx="539115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81750" y="1162050"/>
            <a:ext cx="76200" cy="266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2250" y="11430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买家端 FR-B（5 条）</a:t>
            </a:r>
            <a:endParaRPr sz="21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381750" y="163830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1750" y="16383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FR-B1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05700" y="1657350"/>
            <a:ext cx="39052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浏览商品：空态提示与占位图口径明确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381750" y="207645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1750" y="20764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FR-B2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05700" y="2095500"/>
            <a:ext cx="39052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提交意向：仅姓名电话，口令码仅显示一次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381750" y="251460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1750" y="25146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FR-B3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05700" y="2533650"/>
            <a:ext cx="39052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凭码查询：位次 / 时间 / 是否已进入交易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381750" y="295275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1750" y="29527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FR-B4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05700" y="2971800"/>
            <a:ext cx="39052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凭码修改：改信息不改位次，仅留最新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381750" y="3390900"/>
            <a:ext cx="1028700" cy="304800"/>
          </a:xfrm>
          <a:prstGeom prst="roundRect">
            <a:avLst>
              <a:gd name="adj" fmla="val 3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1750" y="33909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FR-B5</a:t>
            </a:r>
            <a:endParaRPr sz="14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505700" y="3409950"/>
            <a:ext cx="39052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凭码撤销：交易中亦可撤销，口令码失效</a:t>
            </a:r>
            <a:endParaRPr sz="14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191250" y="4286250"/>
            <a:ext cx="5391150" cy="18478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81750" y="4457700"/>
            <a:ext cx="76200" cy="2667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72250" y="443865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为什么写需求而不是直接写码</a:t>
            </a:r>
            <a:endParaRPr sz="20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72250" y="4838700"/>
            <a:ext cx="4810125" cy="121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迭代 1 严格按「需求澄清 → 规格与用例设计</a:t>
            </a:r>
            <a:endParaRPr sz="15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→ 接口设计 → 编码实现 → 测试验证」顺序推进；</a:t>
            </a:r>
            <a:endParaRPr sz="15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每一条 FR 都能在《追踪矩阵》（SRS 第 7 节）查到</a:t>
            </a:r>
            <a:endParaRPr sz="15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对应用例、接口与测试，不存在无验证来源的需求。</a:t>
            </a:r>
            <a:endParaRPr sz="15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9600" y="622935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需求与设计著作：董嘉润（提出问题、组织澄清、确认答复依据）+ 陈星宇（需求分析与条目化编写），共同完成。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06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业务规则：状态机与口令码全生命周期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SRS v1.3 第 4 节 · 主讲：王振涛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" y="1162050"/>
            <a:ext cx="76200" cy="2476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114300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商品状态机（四态，含恢复回路）</a:t>
            </a:r>
            <a:endParaRPr sz="21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52500" y="1524000"/>
            <a:ext cx="1238250" cy="4572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1524000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在售</a:t>
            </a:r>
            <a:endParaRPr sz="17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24100" y="1524000"/>
            <a:ext cx="17145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38350" y="2000250"/>
            <a:ext cx="2286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队首自动进入交易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71950" y="1524000"/>
            <a:ext cx="1619250" cy="457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1950" y="1524000"/>
            <a:ext cx="16192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已冻结[auto]</a:t>
            </a:r>
            <a:endParaRPr sz="17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24550" y="152400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38800" y="200025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标记成功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00900" y="1524000"/>
            <a:ext cx="1238250" cy="457200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1524000"/>
            <a:ext cx="12382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已下架</a:t>
            </a:r>
            <a:endParaRPr sz="17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90600" y="2286000"/>
            <a:ext cx="104775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回路：已冻结[auto] →(标记失败且队列空)→ 在售　·　在售 →(手动冻结)→ 已冻结[manual] →(解冻)→ 在售</a:t>
            </a:r>
            <a:endParaRPr sz="13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下架不因有排队意向而禁止；冻结期间不接收新意向</a:t>
            </a:r>
            <a:endParaRPr sz="13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9600" y="291465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" y="3086100"/>
            <a:ext cx="76200" cy="2476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600" y="306705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意向状态机（终态三档）</a:t>
            </a:r>
            <a:endParaRPr sz="21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2500" y="344805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" y="344805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排队中</a:t>
            </a:r>
            <a:endParaRPr sz="17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28850" y="344805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43100" y="39243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进入交易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505200" y="344805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5200" y="344805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交易中</a:t>
            </a:r>
            <a:endParaRPr sz="17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81550" y="344805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3D7BD9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3D7BD9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95800" y="39243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标记结果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057900" y="344805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7900" y="344805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成功 / 失败</a:t>
            </a:r>
            <a:endParaRPr sz="17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05750" y="3200400"/>
            <a:ext cx="31432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D9534F"/>
                </a:solidFill>
                <a:ea typeface="微软雅黑" panose="020B0503020204020204" charset="-122"/>
                <a:cs typeface="微软雅黑" panose="020B0503020204020204" charset="-122"/>
              </a:rPr>
              <a:t>买家撤销（交易中亦可）</a:t>
            </a:r>
            <a:endParaRPr sz="1300" b="0">
              <a:solidFill>
                <a:srgbClr val="D9534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53500" y="3448050"/>
            <a:ext cx="5715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D9534F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400" b="1">
              <a:solidFill>
                <a:srgbClr val="D9534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620250" y="344805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0250" y="344805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已撤销</a:t>
            </a:r>
            <a:endParaRPr sz="17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0600" y="4191000"/>
            <a:ext cx="104775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终态三档：成功 / 撤销 / 失败；口令码随终态失效（重新排队除外）——交易中撤销：交易终止、商品自动恢复在售、后续队列递补</a:t>
            </a:r>
            <a:endParaRPr sz="13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09600" y="4838700"/>
            <a:ext cx="10972800" cy="9906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500" y="499110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口令码全生命周期</a:t>
            </a:r>
            <a:endParaRPr sz="2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52500" y="5314950"/>
            <a:ext cx="59055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生成（8 位 · 仅显示一次）→ 查询位次 / 修改信息 / 撤销</a:t>
            </a:r>
            <a:endParaRPr sz="15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→ 终态失效（交易结束 / 撤销 / 下架）</a:t>
            </a:r>
            <a:endParaRPr sz="15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239000" y="4972050"/>
            <a:ext cx="4095750" cy="800100"/>
          </a:xfrm>
          <a:prstGeom prst="rect">
            <a:avLst/>
          </a:prstGeom>
          <a:solidFill>
            <a:srgbClr val="1A4E9E"/>
          </a:solidFill>
          <a:ln w="12700">
            <a:solidFill>
              <a:srgbClr val="2A5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10450" y="5067300"/>
            <a:ext cx="3771900" cy="628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C107"/>
                </a:solidFill>
                <a:ea typeface="微软雅黑" panose="020B0503020204020204" charset="-122"/>
                <a:cs typeface="微软雅黑" panose="020B0503020204020204" charset="-122"/>
              </a:rPr>
              <a:t>两条额外处理：</a:t>
            </a:r>
            <a:r>
              <a:rPr sz="1500" b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失败重排沿用原口令码并排到队尾；卖家后台全程看不到口令码</a:t>
            </a:r>
            <a:endParaRPr sz="1500" b="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09600" y="5886450"/>
            <a:ext cx="10972800" cy="4762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" y="5886450"/>
            <a:ext cx="22479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接口设计：共 17 个</a:t>
            </a:r>
            <a:endParaRPr sz="14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105150" y="5886450"/>
            <a:ext cx="83058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卖家端 12 个：登录、改密码、工作台、发布、冻结/解冻、进入交易、标记结果、处置失败意向、下架、历史列表/详情、图片；买家端 5 个：浏览、提交意向、凭码查询/修改/撤销。与《用例表》UC-01~15 一一对应。</a:t>
            </a:r>
            <a:endParaRPr sz="12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07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完成情况：代码 · 测试 · 运行截图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主讲：王振涛（卖家端）· 林初俊（买家端与测试）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32385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047750"/>
            <a:ext cx="142875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1,290</a:t>
            </a:r>
            <a:endParaRPr sz="32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28850" y="1162050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行 Java 业务代码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" y="1581150"/>
            <a:ext cx="29146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卖家端 836（王振涛）+ 买家端 454（林初俊）</a:t>
            </a:r>
            <a:endParaRPr sz="12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000250"/>
            <a:ext cx="32385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2057400"/>
            <a:ext cx="142875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32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28850" y="2171700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个 REST 接口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" y="2590800"/>
            <a:ext cx="29146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卖家 12 + 买家 5，逐条 curl 实测</a:t>
            </a:r>
            <a:endParaRPr sz="12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3009900"/>
            <a:ext cx="32385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3067050"/>
            <a:ext cx="142875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16 / 16</a:t>
            </a:r>
            <a:endParaRPr sz="32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28850" y="3181350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JUnit 用例全绿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100" y="3600450"/>
            <a:ext cx="29146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mvn test 实测 BUILD SUCCESS</a:t>
            </a:r>
            <a:endParaRPr sz="12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4019550"/>
            <a:ext cx="32385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4076700"/>
            <a:ext cx="142875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80%</a:t>
            </a:r>
            <a:endParaRPr sz="32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28850" y="4191000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当前项目进度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0100" y="4610100"/>
            <a:ext cx="29146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五维加权 90%，保守下调</a:t>
            </a:r>
            <a:endParaRPr sz="12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600" y="5105400"/>
            <a:ext cx="3238500" cy="1181100"/>
          </a:xfrm>
          <a:prstGeom prst="rect">
            <a:avLst/>
          </a:prstGeom>
          <a:solidFill>
            <a:srgbClr val="0E3F8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521970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  <a:ea typeface="微软雅黑" panose="020B0503020204020204" charset="-122"/>
                <a:cs typeface="微软雅黑" panose="020B0503020204020204" charset="-122"/>
              </a:rPr>
              <a:t>测试设计</a:t>
            </a:r>
            <a:endParaRPr sz="1500" b="1">
              <a:solidFill>
                <a:srgbClr val="FFC107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100" y="5505450"/>
            <a:ext cx="2857500" cy="666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@SpringBootTest + MockMvc 走真实 MVC 流程；每用例清库保证独立。</a:t>
            </a:r>
            <a:endParaRPr sz="1300" b="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076700" y="990600"/>
            <a:ext cx="3695700" cy="3390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buyer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1950" y="1085850"/>
            <a:ext cx="3505200" cy="2705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71950" y="3848100"/>
            <a:ext cx="3505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买家端首页（在售商品 + 凭码查位次）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886700" y="990600"/>
            <a:ext cx="3695700" cy="3390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8" name="Picture 27" descr="code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1085850"/>
            <a:ext cx="3505200" cy="27051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81950" y="3848100"/>
            <a:ext cx="35052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口令码展示页（仅显示一次 + 截图提醒）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076700" y="4533900"/>
            <a:ext cx="75057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7200" y="4533900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另附 </a:t>
            </a:r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8 张真实运行截图</a:t>
            </a:r>
            <a:r>
              <a:rPr sz="16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（买家 4 + 卖家 4），全部出自实际运行的系统</a:t>
            </a:r>
            <a:endParaRPr sz="16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20250" y="4533900"/>
            <a:ext cx="18097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成果物页：前端页面说明</a:t>
            </a:r>
            <a:endParaRPr sz="14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076700" y="5257800"/>
            <a:ext cx="7505700" cy="10287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7200" y="5391150"/>
            <a:ext cx="7143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交叉验证：王振涛交付时 12 个卖家接口逐条 curl 验证；林初俊 16 组 JUnit 覆盖排队、递补、重排、隐私（流水不含口令码）等关键规则；组长本地复核 mvn package / mvn test / 启动实测均通过。</a:t>
            </a:r>
            <a:endParaRPr sz="15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08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五人分工与成果物（报告 3.6 工作任务表）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每行可点开公网验证 · 全员按行讲述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10972800" cy="4000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4762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#</a:t>
            </a:r>
            <a:endParaRPr sz="15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8250" y="990600"/>
            <a:ext cx="60960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已完成工作任务</a:t>
            </a:r>
            <a:endParaRPr sz="15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81850" y="990600"/>
            <a:ext cx="11430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完成人</a:t>
            </a:r>
            <a:endParaRPr sz="15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4850" y="990600"/>
            <a:ext cx="325755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成果物（Wiki 页）</a:t>
            </a:r>
            <a:endParaRPr sz="15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390650"/>
            <a:ext cx="47625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390650"/>
            <a:ext cx="476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85850" y="1390650"/>
            <a:ext cx="609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1390650"/>
            <a:ext cx="58293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需求澄清访谈：提出并整理需求问题库 10 问，完成 8 条答复回填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81850" y="1390650"/>
            <a:ext cx="1143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1850" y="1390650"/>
            <a:ext cx="1143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董嘉润</a:t>
            </a:r>
            <a:endParaRPr sz="13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4850" y="1390650"/>
            <a:ext cx="325755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4850" y="1390650"/>
            <a:ext cx="3257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需求问题库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9600" y="1924050"/>
            <a:ext cx="47625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1924050"/>
            <a:ext cx="476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85850" y="1924050"/>
            <a:ext cx="6096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1924050"/>
            <a:ext cx="58293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需求分析与编写《需求规格说明书》v1.3（FR-S1~S9 / FR-B1~B5、裁决 C1~C4、追踪矩阵），含《用例表》UC-01~15 与《业务流程图》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81850" y="1924050"/>
            <a:ext cx="1143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1850" y="1924050"/>
            <a:ext cx="1143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董嘉润、陈星宇</a:t>
            </a:r>
            <a:endParaRPr sz="13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24850" y="1924050"/>
            <a:ext cx="325755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4850" y="1924050"/>
            <a:ext cx="3257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需求规格说明书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9600" y="2457450"/>
            <a:ext cx="47625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2457450"/>
            <a:ext cx="476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85850" y="2457450"/>
            <a:ext cx="609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2457450"/>
            <a:ext cx="58293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领域模型与 REST 接口设计：17 个接口的入参、出参、错误码约定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181850" y="2457450"/>
            <a:ext cx="1143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81850" y="2457450"/>
            <a:ext cx="1143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王振涛</a:t>
            </a:r>
            <a:endParaRPr sz="13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24850" y="2457450"/>
            <a:ext cx="325755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4850" y="2457450"/>
            <a:ext cx="3257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接口设计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9600" y="2990850"/>
            <a:ext cx="47625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2990850"/>
            <a:ext cx="476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85850" y="2990850"/>
            <a:ext cx="6096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2990850"/>
            <a:ext cx="58293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实现 Java 卖家端模块：登录鉴权、发布、冻结解冻、意向管理、结果标记、下架、历史、改密码（836 行 · 12 接口）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181850" y="2990850"/>
            <a:ext cx="1143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81850" y="2990850"/>
            <a:ext cx="1143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王振涛</a:t>
            </a:r>
            <a:endParaRPr sz="13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324850" y="2990850"/>
            <a:ext cx="325755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4850" y="2990850"/>
            <a:ext cx="3257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卖家端模块实现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09600" y="3524250"/>
            <a:ext cx="47625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3524250"/>
            <a:ext cx="476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85850" y="3524250"/>
            <a:ext cx="609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3524250"/>
            <a:ext cx="58293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实现 Java 买家端与交易流转：浏览、提交意向、凭码查询/修改/撤销、自动进交易、递补与重排（454 行 · 5 接口）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181850" y="3524250"/>
            <a:ext cx="1143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81850" y="3524250"/>
            <a:ext cx="1143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林初俊</a:t>
            </a:r>
            <a:endParaRPr sz="13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324850" y="3524250"/>
            <a:ext cx="325755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4850" y="3524250"/>
            <a:ext cx="3257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买家端模块实现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09600" y="4057650"/>
            <a:ext cx="47625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4057650"/>
            <a:ext cx="476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85850" y="4057650"/>
            <a:ext cx="6096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38250" y="4057650"/>
            <a:ext cx="58293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编写 JUnit 5 单元测试 16 组（457 行），mvn test 实测 16 通过 0 失败 0 跳过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181850" y="4057650"/>
            <a:ext cx="1143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81850" y="4057650"/>
            <a:ext cx="1143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林初俊</a:t>
            </a:r>
            <a:endParaRPr sz="13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324850" y="4057650"/>
            <a:ext cx="325755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4850" y="4057650"/>
            <a:ext cx="3257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第1次测试记录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09600" y="4591050"/>
            <a:ext cx="47625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9600" y="4591050"/>
            <a:ext cx="476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85850" y="4591050"/>
            <a:ext cx="609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38250" y="4591050"/>
            <a:ext cx="58293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前端 5 个页面开发与联调 +《前端页面说明》（含空态、接口对应表）+ 8 张运行截图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181850" y="4591050"/>
            <a:ext cx="1143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81850" y="4591050"/>
            <a:ext cx="1143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嵇宇锋</a:t>
            </a:r>
            <a:endParaRPr sz="13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324850" y="4591050"/>
            <a:ext cx="325755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4850" y="4591050"/>
            <a:ext cx="3257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前端页面说明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9600" y="5124450"/>
            <a:ext cx="47625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600" y="5124450"/>
            <a:ext cx="4762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085850" y="5124450"/>
            <a:ext cx="6096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38250" y="5124450"/>
            <a:ext cx="58293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搭建仓库与 Wiki、编写构建与部署手册、本次评审报告与进度核算</a:t>
            </a:r>
            <a:endParaRPr sz="13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181850" y="5124450"/>
            <a:ext cx="1143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81850" y="5124450"/>
            <a:ext cx="1143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陈星宇</a:t>
            </a:r>
            <a:endParaRPr sz="13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324850" y="5124450"/>
            <a:ext cx="325755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4850" y="5124450"/>
            <a:ext cx="32575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构建与部署手册</a:t>
            </a:r>
            <a:endParaRPr sz="1300" b="0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09600" y="5753100"/>
            <a:ext cx="10972800" cy="4953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6300" y="5885498"/>
            <a:ext cx="104775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3.6 表共 8 行、5 人全覆盖：只填已完成、由个人完成、有公网成果物的任务</a:t>
            </a:r>
            <a:endParaRPr sz="15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09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现场演示：买卖流程 8 步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5750" y="304800"/>
            <a:ext cx="3676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讲解：林初俊 · 操作：嵇宇锋</a:t>
            </a:r>
            <a:endParaRPr sz="16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5334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2000" y="110490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1049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00150" y="104775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卖家登录 → 发布商品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0150" y="129540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H2 文件库免安装，随机初始密码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619250"/>
            <a:ext cx="5334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2000" y="173355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17335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00150" y="167640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买家浏览 → 提交意向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0150" y="192405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取得口令码，仅显示一次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" y="2247900"/>
            <a:ext cx="5334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000" y="236220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23622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00150" y="230505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第二、三位买家依次入队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00150" y="255270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位次 1 / 2 / 3，先到先得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" y="2876550"/>
            <a:ext cx="5334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000" y="299085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29908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00150" y="293370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卖家查看意向 → 队首进入交易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00150" y="318135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系统自动触发，商品自动冻结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600" y="3505200"/>
            <a:ext cx="5334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000" y="361950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36195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6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00150" y="356235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标记失败 → 自动递补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00150" y="381000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下一位顶上，位次顺移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9600" y="4133850"/>
            <a:ext cx="5334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2000" y="424815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4248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6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00150" y="419100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处置失败买家 → 重新排队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00150" y="443865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原口令码复效、排到队尾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9600" y="4762500"/>
            <a:ext cx="5334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2000" y="487680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000" y="48768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6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00150" y="481965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标记成功 → 队列剩余转失败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00150" y="506730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商品下架进历史、口令码全失效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09600" y="5391150"/>
            <a:ext cx="5334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2000" y="550545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000" y="55054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6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00150" y="544830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查询历史详情</a:t>
            </a:r>
            <a:endParaRPr sz="1600" b="1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00150" y="569595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意向流水完整，且不含口令码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096000" y="990600"/>
            <a:ext cx="5486400" cy="3181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46" name="Picture 45" descr="admin_history.png"/>
          <p:cNvPicPr>
            <a:picLocks noChangeAspect="1"/>
          </p:cNvPicPr>
          <p:nvPr/>
        </p:nvPicPr>
        <p:blipFill>
          <a:blip r:embed="rId1"/>
          <a:srcRect b="34000"/>
          <a:stretch>
            <a:fillRect/>
          </a:stretch>
        </p:blipFill>
        <p:spPr>
          <a:xfrm>
            <a:off x="6191250" y="1085850"/>
            <a:ext cx="5295900" cy="26860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91250" y="3810000"/>
            <a:ext cx="5295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卖家后台 · 历史记录（倒序 + 分页 + 意向流水入口）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096000" y="4305300"/>
            <a:ext cx="5486400" cy="1219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6500" y="4438650"/>
            <a:ext cx="5143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演示准备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4828223"/>
            <a:ext cx="5143500" cy="51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· 8 张运行截图为同一系统的真实运行记录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· 每个步骤都对应《用例表》的一条 UC</a:t>
            </a:r>
            <a:endParaRPr sz="14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096000" y="5657850"/>
            <a:ext cx="5486400" cy="590550"/>
          </a:xfrm>
          <a:prstGeom prst="roundRect">
            <a:avLst>
              <a:gd name="adj" fmla="val 16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6000" y="5657850"/>
            <a:ext cx="5486400" cy="590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启动：java -jar target/online-shop.jar（一键 · 免装 MySQL）</a:t>
            </a:r>
            <a:endParaRPr sz="1500" b="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10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7650"/>
            <a:ext cx="72390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迭代 2 计划（10-09 ~ 10-22）</a:t>
            </a:r>
            <a:endParaRPr sz="30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90600"/>
            <a:ext cx="350520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104900"/>
            <a:ext cx="13335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E8EFF8"/>
                </a:solidFill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4000" b="1">
              <a:solidFill>
                <a:srgbClr val="E8EFF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76600" y="1181100"/>
            <a:ext cx="571500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6600" y="1200150"/>
            <a:ext cx="571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100" y="1809750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承接第 1 批升级需求</a:t>
            </a:r>
            <a:endParaRPr sz="20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0100" y="2228850"/>
            <a:ext cx="3143250" cy="2190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多商品、多用户、在线支付等升级需求随老师逐轮发布；10-08 评审后确定方向并拆解用户故事，沿用这轮的做法：先裁决需求口径，再拆用例，然后实现、测试。</a:t>
            </a:r>
            <a:endParaRPr sz="16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400" y="990600"/>
            <a:ext cx="350520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3900" y="1104900"/>
            <a:ext cx="13335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E8EFF8"/>
                </a:solidFill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000" b="1">
              <a:solidFill>
                <a:srgbClr val="E8EFF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010400" y="1181100"/>
            <a:ext cx="571500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0400" y="1200150"/>
            <a:ext cx="571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33900" y="1809750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测试自动化补齐</a:t>
            </a:r>
            <a:endParaRPr sz="20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33900" y="2228850"/>
            <a:ext cx="3143250" cy="2190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Selenium 端到端脚本覆盖 8 步演示链路；JMeter 对排队 / 递补场景做并发压测；JUnit 持续随新功能扩充。</a:t>
            </a:r>
            <a:endParaRPr sz="16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77200" y="990600"/>
            <a:ext cx="350520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7700" y="1104900"/>
            <a:ext cx="13335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E8EFF8"/>
                </a:solidFill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4000" b="1">
              <a:solidFill>
                <a:srgbClr val="E8EFF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744200" y="1181100"/>
            <a:ext cx="571500" cy="2857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44200" y="1200150"/>
            <a:ext cx="571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部署</a:t>
            </a:r>
            <a:endParaRPr sz="15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67700" y="1809750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部署实测与运维</a:t>
            </a:r>
            <a:endParaRPr sz="20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7700" y="2228850"/>
            <a:ext cx="3143250" cy="2190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2230"/>
                </a:solidFill>
                <a:ea typeface="微软雅黑" panose="020B0503020204020204" charset="-122"/>
                <a:cs typeface="微软雅黑" panose="020B0503020204020204" charset="-122"/>
              </a:rPr>
              <a:t>Dockerfile 实际构建并跑通容器部署；补部署验证记录；确保 10-15 基线验收五件套（需求/代码/构建/部署/运行）全部达标。</a:t>
            </a:r>
            <a:endParaRPr sz="1600" b="0">
              <a:solidFill>
                <a:srgbClr val="1A223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9600" y="4838700"/>
            <a:ext cx="10972800" cy="1409700"/>
          </a:xfrm>
          <a:prstGeom prst="roundRect">
            <a:avLst>
              <a:gd name="adj" fmla="val 8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5143500"/>
            <a:ext cx="17145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FFC107"/>
                </a:solidFill>
                <a:ea typeface="微软雅黑" panose="020B0503020204020204" charset="-122"/>
                <a:cs typeface="微软雅黑" panose="020B0503020204020204" charset="-122"/>
              </a:rPr>
              <a:t>6 次</a:t>
            </a:r>
            <a:endParaRPr sz="4200" b="1">
              <a:solidFill>
                <a:srgbClr val="FFC107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7250" y="5715000"/>
            <a:ext cx="20955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C9D8F2"/>
                </a:solidFill>
                <a:ea typeface="微软雅黑" panose="020B0503020204020204" charset="-122"/>
                <a:cs typeface="微软雅黑" panose="020B0503020204020204" charset="-122"/>
              </a:rPr>
              <a:t>迭代 2~6 + 期末验收</a:t>
            </a:r>
            <a:endParaRPr sz="1500" b="0">
              <a:solidFill>
                <a:srgbClr val="C9D8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48000" y="5105400"/>
            <a:ext cx="19050" cy="876300"/>
          </a:xfrm>
          <a:prstGeom prst="rect">
            <a:avLst/>
          </a:prstGeom>
          <a:solidFill>
            <a:srgbClr val="2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3750" y="5230495"/>
            <a:ext cx="8001000" cy="6642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本学期剩余评审节点：10-22 / 11-05 / 11-19 / 12-03 / 12-17 / 12-31。</a:t>
            </a:r>
            <a:endParaRPr sz="1600" b="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迭代 1 只做基线，测试与部署的工作留到后面。</a:t>
            </a:r>
            <a:endParaRPr sz="1600" b="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9600" y="6457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软件工程实践（一）· 第 1 组 · 在线购物系统</a:t>
            </a:r>
            <a:endParaRPr sz="14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77500" y="6438900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11 / 12</a:t>
            </a:r>
            <a:endParaRPr sz="16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19250"/>
            <a:ext cx="121920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>
                <a:solidFill>
                  <a:srgbClr val="0E3F8C"/>
                </a:solidFill>
                <a:ea typeface="微软雅黑" panose="020B0503020204020204" charset="-122"/>
                <a:cs typeface="微软雅黑" panose="020B0503020204020204" charset="-122"/>
              </a:rPr>
              <a:t>恳请老师点评</a:t>
            </a:r>
            <a:endParaRPr sz="5200" b="1">
              <a:solidFill>
                <a:srgbClr val="0E3F8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28900"/>
            <a:ext cx="12192000" cy="666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评审意见将按条目记录，并回写至评审报告 3.6 工作任务表的「教师评审意见」列</a:t>
            </a:r>
            <a:endParaRPr sz="19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记录人：陈星宇（组长）· 全体成员到场</a:t>
            </a:r>
            <a:endParaRPr sz="19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76500" y="3619500"/>
            <a:ext cx="7239000" cy="1905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4000500"/>
            <a:ext cx="3429000" cy="10477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4191000"/>
            <a:ext cx="3429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评审报告</a:t>
            </a:r>
            <a:endParaRPr sz="18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50" y="4533900"/>
            <a:ext cx="3429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github.com/xych5q/online-shop/wiki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76750" y="4000500"/>
            <a:ext cx="3429000" cy="10477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6750" y="4191000"/>
            <a:ext cx="3429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需求规格说明书 v1.3</a:t>
            </a:r>
            <a:endParaRPr sz="18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76750" y="4533900"/>
            <a:ext cx="3429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Wiki · 含矛盾裁决与追踪矩阵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96250" y="4000500"/>
            <a:ext cx="3429000" cy="10477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6250" y="4191000"/>
            <a:ext cx="3429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4FA8"/>
                </a:solidFill>
                <a:ea typeface="微软雅黑" panose="020B0503020204020204" charset="-122"/>
                <a:cs typeface="微软雅黑" panose="020B0503020204020204" charset="-122"/>
              </a:rPr>
              <a:t>测试与演示</a:t>
            </a:r>
            <a:endParaRPr sz="1800" b="1">
              <a:solidFill>
                <a:srgbClr val="1E4F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0" y="4533900"/>
            <a:ext cx="3429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8B97A8"/>
                </a:solidFill>
                <a:ea typeface="微软雅黑" panose="020B0503020204020204" charset="-122"/>
                <a:cs typeface="微软雅黑" panose="020B0503020204020204" charset="-122"/>
              </a:rPr>
              <a:t>JUnit 16/16 · 演示 8 步</a:t>
            </a:r>
            <a:endParaRPr sz="1300" b="0">
              <a:solidFill>
                <a:srgbClr val="8B97A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5676900"/>
            <a:ext cx="12192000" cy="11811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6057900"/>
            <a:ext cx="6667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第 1 组 · 陈星宇 · 董嘉润 · 王振涛 · 林初俊 · 嵇宇锋</a:t>
            </a:r>
            <a:endParaRPr sz="16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34500" y="6057900"/>
            <a:ext cx="1905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>
                <a:solidFill>
                  <a:srgbClr val="4A5568"/>
                </a:solidFill>
                <a:ea typeface="微软雅黑" panose="020B0503020204020204" charset="-122"/>
                <a:cs typeface="微软雅黑" panose="020B0503020204020204" charset="-122"/>
              </a:rPr>
              <a:t>2026-10-08</a:t>
            </a:r>
            <a:endParaRPr sz="1600" b="0">
              <a:solidFill>
                <a:srgbClr val="4A5568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5181</Words>
  <Application>WPS 演示</Application>
  <PresentationFormat>On-screen Show (4:3)</PresentationFormat>
  <Paragraphs>639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Cxy</cp:lastModifiedBy>
  <cp:revision>2</cp:revision>
  <dcterms:created xsi:type="dcterms:W3CDTF">2013-01-27T09:14:00Z</dcterms:created>
  <dcterms:modified xsi:type="dcterms:W3CDTF">2026-10-07T16:54:40Z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232F2336EE624F98B7E5665B086CAD2F_12</vt:lpwstr>
  </property>
</Properties>
</file>